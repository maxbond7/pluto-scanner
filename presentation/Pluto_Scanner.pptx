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Титульный слайд. Pluto Scanner — desktop-приложение для исследования эфира на ADALM-PLUTO/Pluto+ и симуляторе.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Проблема: SDR есть, рабочего места нет. Важно сразу обозначить границы: Pluto не радар и не декодер.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Обзор текущего состояния: один desktop-инструмент, три режима, ярлык и JSON-логи.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Базовые функции: спектр, водопад, VFO, демодуляция, контакты.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Эволюция: старый React/TS-архив → Python MVP → реальный Pluto → сканер → дрон-монитор → стабилизация.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Сканер: полный паспортный диапазон Pluto, живой график и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Геометрия свипа: первый/последний центр, перекрытие, покрытие без дыр.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Сравнение фонов: пики, max-hold, проверка совместимости и защита от ложных новых контактов.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Дрон-монитор: не полный свип, а частые возвраты в интересные полосы; измеряем временную структуру.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Конвейер: IQ → PSD+огибающая → признаки → класс → трекер → подтверждённая тревога.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Доказательная база: IQ-фрагмент, спектр, огибающая и экспорт в отдельную папку. Это следующий шаг после детектора.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Библиотека сигнатур: признаки события сопоставляются с локальной SQLite-базой; top-3 гипотезы со ссылками и причинами. Модель дрона — только через протокол, Remote ID или датасет.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Классы и строгий режим тревог: кандидат и подтверждённая тревога — разные вещи.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Полосы мониторинга: 433/868/915, 1.2–1.3, 2.4 и 5.8 ГГц. 5.8 зависит от конкретного Pluto+.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Pluto+: 10.24 стабильно, 20.48 на обоих — риск; для реального 2× нужен Ethernet или разные контроллеры.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Архитектура: один QThread на устройство, DSP/GUI в главном потоке, отдельные модули сканера и дрон-монитора.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Качество: 64 теста, симулятор, реальные Pluto+, исправленные баги и живые измерения.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Ограничения: что реально измеряет пассивный приёмник, а что требует другого железа — пеленг, дальность, Remote ID, декодирование.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Roadmap: Ethernet, тестовый передатчик, Remote ID, пеленг, ML и упаковка.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Итог: рабочий инструмент, который честно показывает измерения и ограничения, и имеет понятный путь развития.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Segoe UI"/>
              </a:defRPr>
            </a:pPr>
            <a:r>
              <a:t>PLUTO SCANNER  ·  КУРСОВОЙ ПРОЕКТ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FA6C0"/>
                </a:solidFill>
                <a:latin typeface="Segoe UI"/>
              </a:defRPr>
            </a:pPr>
            <a:r>
              <a:t>01</a:t>
            </a:r>
          </a:p>
        </p:txBody>
      </p:sp>
      <p:pic>
        <p:nvPicPr>
          <p:cNvPr id="6" name="Picture 5" descr="hero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141732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22D3EE"/>
                </a:solidFill>
                <a:latin typeface="Segoe UI"/>
              </a:defRPr>
            </a:pPr>
            <a:r>
              <a:t>SDR  ·  ПАССИВНЫЙ МОНИТОРИНГ  ·  WINDOWS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6035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5200" b="1">
                <a:solidFill>
                  <a:srgbClr val="22D3EE"/>
                </a:solidFill>
                <a:latin typeface="Segoe UI"/>
              </a:defRPr>
            </a:pPr>
            <a:r>
              <a:t>Pluto Scanner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5806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DBE7F5"/>
                </a:solidFill>
                <a:latin typeface="Segoe UI"/>
              </a:defRPr>
            </a:pPr>
            <a:r>
              <a:t>От спектроанализатора до монитора эфира: реальный Pluto+, поиск новых контактов, свип 325 МГц – 3.8 ГГц и дрон-монитор 433 МГц – 5.8 ГГц.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7492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8FA6C0"/>
                </a:solidFill>
                <a:latin typeface="Segoe UI"/>
              </a:defRPr>
            </a:pPr>
            <a:r>
              <a:t>PYTHON  ·  PYSIDE6  ·  PYQTGRAPH  ·  ADALM-PLUTO / PLUTO+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Segoe UI"/>
              </a:defRPr>
            </a:pPr>
            <a:r>
              <a:t>ЗАЧЕМ ЭТО ВСЁ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DBE7F5"/>
                </a:solidFill>
                <a:latin typeface="Segoe UI"/>
              </a:defRPr>
            </a:pPr>
            <a:r>
              <a:t>Есть SDR. Нет удобного рабочего места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1097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Segoe UI"/>
              </a:defRPr>
            </a:pPr>
            <a:r>
              <a:t>PLUTO SCANNER  ·  КУРСОВОЙ ПРОЕКТ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FA6C0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5349240" cy="4251960"/>
          </a:xfrm>
          <a:prstGeom prst="roundRect">
            <a:avLst>
              <a:gd name="adj" fmla="val 8000"/>
            </a:avLst>
          </a:prstGeom>
          <a:solidFill>
            <a:srgbClr val="0D1426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527048"/>
            <a:ext cx="50566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D3EE"/>
                </a:solidFill>
                <a:latin typeface="Segoe UI"/>
              </a:defRPr>
            </a:pPr>
            <a:r>
              <a:t>Что было нужно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1856232"/>
            <a:ext cx="5056631" cy="3721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8FA6C0"/>
                </a:solidFill>
                <a:latin typeface="Segoe UI"/>
              </a:defRPr>
            </a:pPr>
            <a:r>
              <a:t>•  Спектр и водопад в реальном времени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8FA6C0"/>
                </a:solidFill>
                <a:latin typeface="Segoe UI"/>
              </a:defRPr>
            </a:pPr>
            <a:r>
              <a:t>•  Прослушивание без перестройки LO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8FA6C0"/>
                </a:solidFill>
                <a:latin typeface="Segoe UI"/>
              </a:defRPr>
            </a:pPr>
            <a:r>
              <a:t>•  Понимание, что было фоном, а что появилось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8FA6C0"/>
                </a:solidFill>
                <a:latin typeface="Segoe UI"/>
              </a:defRPr>
            </a:pPr>
            <a:r>
              <a:t>•  Сохранение результатов в понятный JSON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8FA6C0"/>
                </a:solidFill>
                <a:latin typeface="Segoe UI"/>
              </a:defRPr>
            </a:pPr>
            <a:r>
              <a:t>•  Запуск под Windows ярлыком, без терминала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8FA6C0"/>
                </a:solidFill>
                <a:latin typeface="Segoe UI"/>
              </a:defRPr>
            </a:pPr>
            <a:r>
              <a:t>•  Пассивный мониторинг полос дроновых линков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394960" cy="4251960"/>
          </a:xfrm>
          <a:prstGeom prst="roundRect">
            <a:avLst>
              <a:gd name="adj" fmla="val 8000"/>
            </a:avLst>
          </a:prstGeom>
          <a:solidFill>
            <a:srgbClr val="0D1426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1527048"/>
            <a:ext cx="5102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F472B6"/>
                </a:solidFill>
                <a:latin typeface="Segoe UI"/>
              </a:defRPr>
            </a:pPr>
            <a:r>
              <a:t>Что приняли сразу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1856232"/>
            <a:ext cx="5102352" cy="3721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8FA6C0"/>
                </a:solidFill>
                <a:latin typeface="Segoe UI"/>
              </a:defRPr>
            </a:pPr>
            <a:r>
              <a:t>Pluto — это приёмник, не радар и не декодер протоколов.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8FA6C0"/>
                </a:solidFill>
                <a:latin typeface="Segoe UI"/>
              </a:defRPr>
            </a:pPr>
          </a:p>
          <a:p>
            <a:pPr algn="l">
              <a:spcAft>
                <a:spcPts val="0"/>
              </a:spcAft>
              <a:defRPr sz="1400" b="0">
                <a:solidFill>
                  <a:srgbClr val="8FA6C0"/>
                </a:solidFill>
                <a:latin typeface="Segoe UI"/>
              </a:defRPr>
            </a:pPr>
            <a:r>
              <a:t>Он показывает радиосигнал, но не может сам по себе назвать модель дрона, направление и дальность.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8FA6C0"/>
                </a:solidFill>
                <a:latin typeface="Segoe UI"/>
              </a:defRPr>
            </a:pPr>
          </a:p>
          <a:p>
            <a:pPr algn="l">
              <a:spcAft>
                <a:spcPts val="0"/>
              </a:spcAft>
              <a:defRPr sz="1400" b="0">
                <a:solidFill>
                  <a:srgbClr val="8FA6C0"/>
                </a:solidFill>
                <a:latin typeface="Segoe UI"/>
              </a:defRPr>
            </a:pPr>
            <a:r>
              <a:t>Поэтому приложение показывает измерения и гипотезы, а не «магический вердикт».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89788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ADE80"/>
                </a:solidFill>
                <a:latin typeface="Segoe UI"/>
              </a:defRPr>
            </a:pPr>
            <a:r>
              <a:t>Цель: инструмент, который честно показывает то, что реально можно измерить одним или двумя SDR.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472B6"/>
                </a:solidFill>
                <a:latin typeface="Segoe UI"/>
              </a:defRPr>
            </a:pPr>
            <a:r>
              <a:t>ЧТО ЭТО СЕЙЧАС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DBE7F5"/>
                </a:solidFill>
                <a:latin typeface="Segoe UI"/>
              </a:defRPr>
            </a:pPr>
            <a:r>
              <a:t>Pluto Scanner сегодня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10972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Segoe UI"/>
              </a:defRPr>
            </a:pPr>
            <a:r>
              <a:t>PLUTO SCANNER  ·  КУРСОВОЙ ПРОЕКТ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FA6C0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46634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DBE7F5"/>
                </a:solidFill>
                <a:latin typeface="Segoe UI"/>
              </a:defRPr>
            </a:pPr>
            <a:r>
              <a:t>•  Python + PySide6 + pyqtgraph</a:t>
            </a:r>
          </a:p>
          <a:p>
            <a:pPr>
              <a:spcAft>
                <a:spcPts val="500"/>
              </a:spcAft>
              <a:defRPr sz="1350">
                <a:solidFill>
                  <a:srgbClr val="DBE7F5"/>
                </a:solidFill>
                <a:latin typeface="Segoe UI"/>
              </a:defRPr>
            </a:pPr>
            <a:r>
              <a:t>•  Windows, ярлык без консоли</a:t>
            </a:r>
          </a:p>
          <a:p>
            <a:pPr>
              <a:spcAft>
                <a:spcPts val="500"/>
              </a:spcAft>
              <a:defRPr sz="1350">
                <a:solidFill>
                  <a:srgbClr val="DBE7F5"/>
                </a:solidFill>
                <a:latin typeface="Segoe UI"/>
              </a:defRPr>
            </a:pPr>
            <a:r>
              <a:t>•  ADALM-PLUTO / Pluto+ и симулятор</a:t>
            </a:r>
          </a:p>
          <a:p>
            <a:pPr>
              <a:spcAft>
                <a:spcPts val="500"/>
              </a:spcAft>
              <a:defRPr sz="1350">
                <a:solidFill>
                  <a:srgbClr val="DBE7F5"/>
                </a:solidFill>
                <a:latin typeface="Segoe UI"/>
              </a:defRPr>
            </a:pPr>
            <a:r>
              <a:t>•  Один или два SDR</a:t>
            </a:r>
          </a:p>
          <a:p>
            <a:pPr>
              <a:spcAft>
                <a:spcPts val="500"/>
              </a:spcAft>
              <a:defRPr sz="1350">
                <a:solidFill>
                  <a:srgbClr val="DBE7F5"/>
                </a:solidFill>
                <a:latin typeface="Segoe UI"/>
              </a:defRPr>
            </a:pPr>
            <a:r>
              <a:t>•  Три вкладки: Контакты, Сканер диапазона, Дрон-монитор</a:t>
            </a:r>
          </a:p>
          <a:p>
            <a:pPr>
              <a:spcAft>
                <a:spcPts val="500"/>
              </a:spcAft>
              <a:defRPr sz="1350">
                <a:solidFill>
                  <a:srgbClr val="DBE7F5"/>
                </a:solidFill>
                <a:latin typeface="Segoe UI"/>
              </a:defRPr>
            </a:pPr>
            <a:r>
              <a:t>•  JSON, IQ-фрагменты и карточка события</a:t>
            </a:r>
          </a:p>
        </p:txBody>
      </p:sp>
      <p:pic>
        <p:nvPicPr>
          <p:cNvPr id="10" name="Picture 9" descr="ui_sc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7878" y="1325880"/>
            <a:ext cx="6569242" cy="4160520"/>
          </a:xfrm>
          <a:prstGeom prst="rect">
            <a:avLst/>
          </a:prstGeom>
          <a:ln w="9525">
            <a:solidFill>
              <a:srgbClr val="22304A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440680" y="5596128"/>
            <a:ext cx="6263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8FA6C0"/>
                </a:solidFill>
                <a:latin typeface="Segoe UI"/>
              </a:defRPr>
            </a:pPr>
            <a:r>
              <a:t>Интерфейс: спектр, водопад, VFO и вкладки рабочих режимов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2D3EE"/>
                </a:solidFill>
                <a:latin typeface="Segoe UI"/>
              </a:defRPr>
            </a:pPr>
            <a:r>
              <a:t>БАЗОВЫЕ ВОЗМОЖНОСТИ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DBE7F5"/>
                </a:solidFill>
                <a:latin typeface="Segoe UI"/>
              </a:defRPr>
            </a:pPr>
            <a:r>
              <a:t>Приём и анализ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1097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Segoe UI"/>
              </a:defRPr>
            </a:pPr>
            <a:r>
              <a:t>PLUTO SCANNER  ·  КУРСОВОЙ ПРОЕКТ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FA6C0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5440680" cy="1965960"/>
          </a:xfrm>
          <a:prstGeom prst="roundRect">
            <a:avLst>
              <a:gd name="adj" fmla="val 8000"/>
            </a:avLst>
          </a:prstGeom>
          <a:solidFill>
            <a:srgbClr val="0D1426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481328"/>
            <a:ext cx="5148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D3EE"/>
                </a:solidFill>
                <a:latin typeface="Segoe UI"/>
              </a:defRPr>
            </a:pPr>
            <a:r>
              <a:t>Отображение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1810512"/>
            <a:ext cx="5148072" cy="1435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8FA6C0"/>
                </a:solidFill>
                <a:latin typeface="Segoe UI"/>
              </a:defRPr>
            </a:pPr>
            <a:r>
              <a:t>•  Спектр в dBFS и водопад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8FA6C0"/>
                </a:solidFill>
                <a:latin typeface="Segoe UI"/>
              </a:defRPr>
            </a:pPr>
            <a:r>
              <a:t>•  Адаптивная шумовая дорожка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8FA6C0"/>
                </a:solidFill>
                <a:latin typeface="Segoe UI"/>
              </a:defRPr>
            </a:pPr>
            <a:r>
              <a:t>•  Метки детекций и VFO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371600"/>
            <a:ext cx="5486400" cy="1965960"/>
          </a:xfrm>
          <a:prstGeom prst="roundRect">
            <a:avLst>
              <a:gd name="adj" fmla="val 8000"/>
            </a:avLst>
          </a:prstGeom>
          <a:solidFill>
            <a:srgbClr val="0D1426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1481328"/>
            <a:ext cx="5193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F472B6"/>
                </a:solidFill>
                <a:latin typeface="Segoe UI"/>
              </a:defRPr>
            </a:pPr>
            <a:r>
              <a:t>VFO и звук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504" y="1810512"/>
            <a:ext cx="5193792" cy="1435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8FA6C0"/>
                </a:solidFill>
                <a:latin typeface="Segoe UI"/>
              </a:defRPr>
            </a:pPr>
            <a:r>
              <a:t>•  Программный перенос по частоте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8FA6C0"/>
                </a:solidFill>
                <a:latin typeface="Segoe UI"/>
              </a:defRPr>
            </a:pPr>
            <a:r>
              <a:t>•  Wobble — качание VFO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8FA6C0"/>
                </a:solidFill>
                <a:latin typeface="Segoe UI"/>
              </a:defRPr>
            </a:pPr>
            <a:r>
              <a:t>•  AM / FM / SSB / CW, шумоподавитель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611880"/>
            <a:ext cx="5440680" cy="2331720"/>
          </a:xfrm>
          <a:prstGeom prst="roundRect">
            <a:avLst>
              <a:gd name="adj" fmla="val 8000"/>
            </a:avLst>
          </a:prstGeom>
          <a:solidFill>
            <a:srgbClr val="0D1426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3721608"/>
            <a:ext cx="5148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4ADE80"/>
                </a:solidFill>
                <a:latin typeface="Segoe UI"/>
              </a:defRPr>
            </a:pPr>
            <a:r>
              <a:t>Контакты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" y="4050791"/>
            <a:ext cx="5148072" cy="18013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8FA6C0"/>
                </a:solidFill>
                <a:latin typeface="Segoe UI"/>
              </a:defRPr>
            </a:pPr>
            <a:r>
              <a:t>•  Стабильные ID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8FA6C0"/>
                </a:solidFill>
                <a:latin typeface="Segoe UI"/>
              </a:defRPr>
            </a:pPr>
            <a:r>
              <a:t>•  Хиты и пропуски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8FA6C0"/>
                </a:solidFill>
                <a:latin typeface="Segoe UI"/>
              </a:defRPr>
            </a:pPr>
            <a:r>
              <a:t>•  «Новый» / «известный»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8FA6C0"/>
                </a:solidFill>
                <a:latin typeface="Segoe UI"/>
              </a:defRPr>
            </a:pPr>
            <a:r>
              <a:t>•  Мягкое удаление после пропадания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8FA6C0"/>
                </a:solidFill>
                <a:latin typeface="Segoe UI"/>
              </a:defRPr>
            </a:pPr>
            <a:r>
              <a:t>•  Сохранение известных частот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611880"/>
            <a:ext cx="5486400" cy="2331720"/>
          </a:xfrm>
          <a:prstGeom prst="roundRect">
            <a:avLst>
              <a:gd name="adj" fmla="val 8000"/>
            </a:avLst>
          </a:prstGeom>
          <a:solidFill>
            <a:srgbClr val="0D1426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8504" y="3721608"/>
            <a:ext cx="5193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A78BFA"/>
                </a:solidFill>
                <a:latin typeface="Segoe UI"/>
              </a:defRPr>
            </a:pPr>
            <a:r>
              <a:t>Почему VFO в цифре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4050791"/>
            <a:ext cx="5193792" cy="18013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8FA6C0"/>
                </a:solidFill>
                <a:latin typeface="Segoe UI"/>
              </a:defRPr>
            </a:pPr>
            <a:r>
              <a:t>LO не перестраивается при движении VFO и качании.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8FA6C0"/>
                </a:solidFill>
                <a:latin typeface="Segoe UI"/>
              </a:defRPr>
            </a:pPr>
          </a:p>
          <a:p>
            <a:pPr algn="l">
              <a:spcAft>
                <a:spcPts val="0"/>
              </a:spcAft>
              <a:defRPr sz="1300" b="0">
                <a:solidFill>
                  <a:srgbClr val="8FA6C0"/>
                </a:solidFill>
                <a:latin typeface="Segoe UI"/>
              </a:defRPr>
            </a:pPr>
            <a:r>
              <a:t>Это позволяет слушать сигнал и не рвать захват.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8FA6C0"/>
                </a:solidFill>
                <a:latin typeface="Segoe UI"/>
              </a:defRPr>
            </a:pPr>
          </a:p>
          <a:p>
            <a:pPr algn="l">
              <a:spcAft>
                <a:spcPts val="0"/>
              </a:spcAft>
              <a:defRPr sz="1300" b="0">
                <a:solidFill>
                  <a:srgbClr val="8FA6C0"/>
                </a:solidFill>
                <a:latin typeface="Segoe UI"/>
              </a:defRPr>
            </a:pPr>
            <a:r>
              <a:t>Небольшая, но важная деталь для живого эфира.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Segoe UI"/>
              </a:defRPr>
            </a:pPr>
            <a:r>
              <a:t>PLUTO SCANNER  ·  КУРСОВОЙ ПРОЕКТ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FA6C0"/>
                </a:solidFill>
                <a:latin typeface="Segoe UI"/>
              </a:defRPr>
            </a:pPr>
            <a:r>
              <a:t>05</a:t>
            </a:r>
          </a:p>
        </p:txBody>
      </p:sp>
      <p:pic>
        <p:nvPicPr>
          <p:cNvPr id="6" name="Picture 5" descr="diagram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78BFA"/>
                </a:solidFill>
                <a:latin typeface="Segoe UI"/>
              </a:defRPr>
            </a:pPr>
            <a:r>
              <a:t>РЕАЛЬНЫЙ СВИП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DBE7F5"/>
                </a:solidFill>
                <a:latin typeface="Segoe UI"/>
              </a:defRPr>
            </a:pPr>
            <a:r>
              <a:t>325 МГц – 3.8 ГГц за один проход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109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Segoe UI"/>
              </a:defRPr>
            </a:pPr>
            <a:r>
              <a:t>PLUTO SCANNER  ·  КУРСОВОЙ ПРОЕКТ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FA6C0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461772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DBE7F5"/>
                </a:solidFill>
                <a:latin typeface="Segoe UI"/>
              </a:defRPr>
            </a:pPr>
            <a:r>
              <a:t>•  Шаг ~819 кГц при 1.024 MS/s</a:t>
            </a:r>
          </a:p>
          <a:p>
            <a:pPr>
              <a:spcAft>
                <a:spcPts val="500"/>
              </a:spcAft>
              <a:defRPr sz="1350">
                <a:solidFill>
                  <a:srgbClr val="DBE7F5"/>
                </a:solidFill>
                <a:latin typeface="Segoe UI"/>
              </a:defRPr>
            </a:pPr>
            <a:r>
              <a:t>•  Около 4240 шагов, 12–18 минут</a:t>
            </a:r>
          </a:p>
          <a:p>
            <a:pPr>
              <a:spcAft>
                <a:spcPts val="500"/>
              </a:spcAft>
              <a:defRPr sz="1350">
                <a:solidFill>
                  <a:srgbClr val="DBE7F5"/>
                </a:solidFill>
                <a:latin typeface="Segoe UI"/>
              </a:defRPr>
            </a:pPr>
            <a:r>
              <a:t>•  Живой график: текущий шаг + max-hold</a:t>
            </a:r>
          </a:p>
          <a:p>
            <a:pPr>
              <a:spcAft>
                <a:spcPts val="500"/>
              </a:spcAft>
              <a:defRPr sz="1350">
                <a:solidFill>
                  <a:srgbClr val="DBE7F5"/>
                </a:solidFill>
                <a:latin typeface="Segoe UI"/>
              </a:defRPr>
            </a:pPr>
            <a:r>
              <a:t>•  Прогресс, ETA, пропущенные шаги</a:t>
            </a:r>
          </a:p>
          <a:p>
            <a:pPr>
              <a:spcAft>
                <a:spcPts val="500"/>
              </a:spcAft>
              <a:defRPr sz="1350">
                <a:solidFill>
                  <a:srgbClr val="DBE7F5"/>
                </a:solidFill>
                <a:latin typeface="Segoe UI"/>
              </a:defRPr>
            </a:pPr>
            <a:r>
              <a:t>•  Сохранение фона и автосравнение</a:t>
            </a:r>
          </a:p>
        </p:txBody>
      </p:sp>
      <p:pic>
        <p:nvPicPr>
          <p:cNvPr id="10" name="Picture 9" descr="ui_sc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8924" y="1325880"/>
            <a:ext cx="6641431" cy="4206240"/>
          </a:xfrm>
          <a:prstGeom prst="rect">
            <a:avLst/>
          </a:prstGeom>
          <a:ln w="9525">
            <a:solidFill>
              <a:srgbClr val="22304A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394960" y="5623560"/>
            <a:ext cx="6309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8FA6C0"/>
                </a:solidFill>
                <a:latin typeface="Segoe UI"/>
              </a:defRPr>
            </a:pPr>
            <a:r>
              <a:t>Скриншот: свип 433–436 МГц на симуляторе, 5 шагов, 35 пиков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Segoe UI"/>
              </a:defRPr>
            </a:pPr>
            <a:r>
              <a:t>PLUTO SCANNER  ·  КУРСОВОЙ ПРОЕКТ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FA6C0"/>
                </a:solidFill>
                <a:latin typeface="Segoe UI"/>
              </a:defRPr>
            </a:pPr>
            <a:r>
              <a:t>07</a:t>
            </a:r>
          </a:p>
        </p:txBody>
      </p:sp>
      <p:pic>
        <p:nvPicPr>
          <p:cNvPr id="6" name="Picture 5" descr="diagram_sc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Segoe UI"/>
              </a:defRPr>
            </a:pPr>
            <a:r>
              <a:t>PLUTO SCANNER  ·  КУРСОВОЙ ПРОЕКТ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FA6C0"/>
                </a:solidFill>
                <a:latin typeface="Segoe UI"/>
              </a:defRPr>
            </a:pPr>
            <a:r>
              <a:t>08</a:t>
            </a:r>
          </a:p>
        </p:txBody>
      </p:sp>
      <p:pic>
        <p:nvPicPr>
          <p:cNvPr id="6" name="Picture 5" descr="diagram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472B6"/>
                </a:solidFill>
                <a:latin typeface="Segoe UI"/>
              </a:defRPr>
            </a:pPr>
            <a:r>
              <a:t>ДРОН-МОНИТОР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DBE7F5"/>
                </a:solidFill>
                <a:latin typeface="Segoe UI"/>
              </a:defRPr>
            </a:pPr>
            <a:r>
              <a:t>Быстрый обзор вместо полного свипа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10972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Segoe UI"/>
              </a:defRPr>
            </a:pPr>
            <a:r>
              <a:t>PLUTO SCANNER  ·  КУРСОВОЙ ПРОЕКТ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FA6C0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45720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20">
                <a:solidFill>
                  <a:srgbClr val="DBE7F5"/>
                </a:solidFill>
                <a:latin typeface="Segoe UI"/>
              </a:defRPr>
            </a:pPr>
            <a:r>
              <a:t>•  Полосы: 433 / 868 / 915 МГц</a:t>
            </a:r>
          </a:p>
          <a:p>
            <a:pPr>
              <a:spcAft>
                <a:spcPts val="500"/>
              </a:spcAft>
              <a:defRPr sz="1320">
                <a:solidFill>
                  <a:srgbClr val="DBE7F5"/>
                </a:solidFill>
                <a:latin typeface="Segoe UI"/>
              </a:defRPr>
            </a:pPr>
            <a:r>
              <a:t>•  1.2–1.3 / 2.4 / 5.8 ГГц</a:t>
            </a:r>
          </a:p>
          <a:p>
            <a:pPr>
              <a:spcAft>
                <a:spcPts val="500"/>
              </a:spcAft>
              <a:defRPr sz="1320">
                <a:solidFill>
                  <a:srgbClr val="DBE7F5"/>
                </a:solidFill>
                <a:latin typeface="Segoe UI"/>
              </a:defRPr>
            </a:pPr>
            <a:r>
              <a:t>•  Широкие куски: 10.24 / 20.48 / 30.72 MS/s</a:t>
            </a:r>
          </a:p>
          <a:p>
            <a:pPr>
              <a:spcAft>
                <a:spcPts val="500"/>
              </a:spcAft>
              <a:defRPr sz="1320">
                <a:solidFill>
                  <a:srgbClr val="DBE7F5"/>
                </a:solidFill>
                <a:latin typeface="Segoe UI"/>
              </a:defRPr>
            </a:pPr>
            <a:r>
              <a:t>•  Живой спектр текущего куска</a:t>
            </a:r>
          </a:p>
          <a:p>
            <a:pPr>
              <a:spcAft>
                <a:spcPts val="500"/>
              </a:spcAft>
              <a:defRPr sz="1320">
                <a:solidFill>
                  <a:srgbClr val="DBE7F5"/>
                </a:solidFill>
                <a:latin typeface="Segoe UI"/>
              </a:defRPr>
            </a:pPr>
            <a:r>
              <a:t>•  Таблица событий и журнал JSON</a:t>
            </a:r>
          </a:p>
          <a:p>
            <a:pPr>
              <a:spcAft>
                <a:spcPts val="500"/>
              </a:spcAft>
              <a:defRPr sz="1320">
                <a:solidFill>
                  <a:srgbClr val="DBE7F5"/>
                </a:solidFill>
                <a:latin typeface="Segoe UI"/>
              </a:defRPr>
            </a:pPr>
            <a:r>
              <a:t>•  Тревога только после подтверждения</a:t>
            </a:r>
          </a:p>
        </p:txBody>
      </p:sp>
      <p:pic>
        <p:nvPicPr>
          <p:cNvPr id="10" name="Picture 9" descr="ui_dr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8924" y="1325880"/>
            <a:ext cx="6641431" cy="4206240"/>
          </a:xfrm>
          <a:prstGeom prst="rect">
            <a:avLst/>
          </a:prstGeom>
          <a:ln w="9525">
            <a:solidFill>
              <a:srgbClr val="22304A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394960" y="5623560"/>
            <a:ext cx="6309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8FA6C0"/>
                </a:solidFill>
                <a:latin typeface="Segoe UI"/>
              </a:defRPr>
            </a:pPr>
            <a:r>
              <a:t>Скриншот: активный дрон-монитор на симуляторе, 2.4 ГГц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Segoe UI"/>
              </a:defRPr>
            </a:pPr>
            <a:r>
              <a:t>PLUTO SCANNER  ·  КУРСОВОЙ ПРОЕКТ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FA6C0"/>
                </a:solidFill>
                <a:latin typeface="Segoe UI"/>
              </a:defRPr>
            </a:pPr>
            <a:r>
              <a:t>10</a:t>
            </a:r>
          </a:p>
        </p:txBody>
      </p:sp>
      <p:pic>
        <p:nvPicPr>
          <p:cNvPr id="6" name="Picture 5" descr="diagram_dr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ADE80"/>
                </a:solidFill>
                <a:latin typeface="Segoe UI"/>
              </a:defRPr>
            </a:pPr>
            <a:r>
              <a:t>ДОКАЗАТЕЛЬСТВА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DBE7F5"/>
                </a:solidFill>
                <a:latin typeface="Segoe UI"/>
              </a:defRPr>
            </a:pPr>
            <a:r>
              <a:t>IQ-фрагмент и карточка события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10972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Segoe UI"/>
              </a:defRPr>
            </a:pPr>
            <a:r>
              <a:t>PLUTO SCANNER  ·  КУРСОВОЙ ПРОЕКТ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FA6C0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43891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DBE7F5"/>
                </a:solidFill>
                <a:latin typeface="Segoe UI"/>
              </a:defRPr>
            </a:pPr>
            <a:r>
              <a:t>•  Двойной клик по событию открывает карточку</a:t>
            </a:r>
          </a:p>
          <a:p>
            <a:pPr>
              <a:spcAft>
                <a:spcPts val="500"/>
              </a:spcAft>
              <a:defRPr sz="1300">
                <a:solidFill>
                  <a:srgbClr val="DBE7F5"/>
                </a:solidFill>
                <a:latin typeface="Segoe UI"/>
              </a:defRPr>
            </a:pPr>
            <a:r>
              <a:t>•  Спектр и временная огибающая</a:t>
            </a:r>
          </a:p>
          <a:p>
            <a:pPr>
              <a:spcAft>
                <a:spcPts val="500"/>
              </a:spcAft>
              <a:defRPr sz="1300">
                <a:solidFill>
                  <a:srgbClr val="DBE7F5"/>
                </a:solidFill>
                <a:latin typeface="Segoe UI"/>
              </a:defRPr>
            </a:pPr>
            <a:r>
              <a:t>•  Хиты, SNR, ширина, скважность</a:t>
            </a:r>
          </a:p>
          <a:p>
            <a:pPr>
              <a:spcAft>
                <a:spcPts val="500"/>
              </a:spcAft>
              <a:defRPr sz="1300">
                <a:solidFill>
                  <a:srgbClr val="DBE7F5"/>
                </a:solidFill>
                <a:latin typeface="Segoe UI"/>
              </a:defRPr>
            </a:pPr>
            <a:r>
              <a:t>•  IQ-фрагмент ~20 мс в clips/*.cf32</a:t>
            </a:r>
          </a:p>
          <a:p>
            <a:pPr>
              <a:spcAft>
                <a:spcPts val="500"/>
              </a:spcAft>
              <a:defRPr sz="1300">
                <a:solidFill>
                  <a:srgbClr val="DBE7F5"/>
                </a:solidFill>
                <a:latin typeface="Segoe UI"/>
              </a:defRPr>
            </a:pPr>
            <a:r>
              <a:t>•  Экспорт: event.json, spectrum.csv, envelope.csv, clip.cf32</a:t>
            </a:r>
          </a:p>
        </p:txBody>
      </p:sp>
      <p:pic>
        <p:nvPicPr>
          <p:cNvPr id="10" name="Picture 9" descr="event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165860"/>
            <a:ext cx="6583680" cy="4800600"/>
          </a:xfrm>
          <a:prstGeom prst="rect">
            <a:avLst/>
          </a:prstGeom>
          <a:ln w="9525">
            <a:solidFill>
              <a:srgbClr val="22304A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Segoe UI"/>
              </a:defRPr>
            </a:pPr>
            <a:r>
              <a:t>PLUTO SCANNER  ·  КУРСОВОЙ ПРОЕКТ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FA6C0"/>
                </a:solidFill>
                <a:latin typeface="Segoe UI"/>
              </a:defRPr>
            </a:pPr>
            <a:r>
              <a:t>12</a:t>
            </a:r>
          </a:p>
        </p:txBody>
      </p:sp>
      <p:pic>
        <p:nvPicPr>
          <p:cNvPr id="6" name="Picture 5" descr="diagram_sign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КЛАССЫ И ТРЕВОГИ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DBE7F5"/>
                </a:solidFill>
                <a:latin typeface="Segoe UI"/>
              </a:defRPr>
            </a:pPr>
            <a:r>
              <a:t>Классы — это гипотезы, а не приговор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109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Segoe UI"/>
              </a:defRPr>
            </a:pPr>
            <a:r>
              <a:t>PLUTO SCANNER  ·  КУРСОВОЙ ПРОЕКТ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0528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FA6C0"/>
                </a:solidFill>
                <a:latin typeface="Segoe UI"/>
              </a:defRPr>
            </a:pPr>
            <a:r>
              <a:t>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371600"/>
          <a:ext cx="111556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766560"/>
                <a:gridCol w="2377440"/>
              </a:tblGrid>
              <a:tr h="382905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Класс</a:t>
                      </a:r>
                    </a:p>
                  </a:txBody>
                  <a:tcPr marL="73152" marR="54864" marT="27432" marB="27432" anchor="ctr"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Признаки</a:t>
                      </a:r>
                    </a:p>
                  </a:txBody>
                  <a:tcPr marL="73152" marR="54864" marT="27432" marB="27432" anchor="ctr">
                    <a:solidFill>
                      <a:srgbClr val="111B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2D3EE"/>
                          </a:solidFill>
                          <a:latin typeface="Segoe UI"/>
                        </a:defRPr>
                      </a:pPr>
                      <a:r>
                        <a:t>Тревога</a:t>
                      </a:r>
                    </a:p>
                  </a:txBody>
                  <a:tcPr marL="73152" marR="54864" marT="27432" marB="27432" anchor="ctr">
                    <a:solidFill>
                      <a:srgbClr val="111B30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DBE7F5"/>
                          </a:solidFill>
                          <a:latin typeface="Segoe UI"/>
                        </a:defRPr>
                      </a:pPr>
                      <a:r>
                        <a:t>FHSS</a:t>
                      </a:r>
                    </a:p>
                  </a:txBody>
                  <a:tcPr marL="73152" marR="54864" marT="27432" marB="27432" anchor="ctr">
                    <a:solidFill>
                      <a:srgbClr val="0D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DBE7F5"/>
                          </a:solidFill>
                          <a:latin typeface="Segoe UI"/>
                        </a:defRPr>
                      </a:pPr>
                      <a:r>
                        <a:t>короткие узкие посылки, скважность, прыжки</a:t>
                      </a:r>
                    </a:p>
                  </a:txBody>
                  <a:tcPr marL="73152" marR="54864" marT="27432" marB="27432" anchor="ctr">
                    <a:solidFill>
                      <a:srgbClr val="0D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DBE7F5"/>
                          </a:solidFill>
                          <a:latin typeface="Segoe UI"/>
                        </a:defRPr>
                      </a:pPr>
                      <a:r>
                        <a:t>да</a:t>
                      </a:r>
                    </a:p>
                  </a:txBody>
                  <a:tcPr marL="73152" marR="54864" marT="27432" marB="27432" anchor="ctr">
                    <a:solidFill>
                      <a:srgbClr val="0D1426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DBE7F5"/>
                          </a:solidFill>
                          <a:latin typeface="Segoe UI"/>
                        </a:defRPr>
                      </a:pPr>
                      <a:r>
                        <a:t>TELEMETRY</a:t>
                      </a:r>
                    </a:p>
                  </a:txBody>
                  <a:tcPr marL="73152" marR="54864" marT="27432" marB="27432" anchor="ctr">
                    <a:solidFill>
                      <a:srgbClr val="0A12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DBE7F5"/>
                          </a:solidFill>
                          <a:latin typeface="Segoe UI"/>
                        </a:defRPr>
                      </a:pPr>
                      <a:r>
                        <a:t>редкие узкие посылки</a:t>
                      </a:r>
                    </a:p>
                  </a:txBody>
                  <a:tcPr marL="73152" marR="54864" marT="27432" marB="27432" anchor="ctr">
                    <a:solidFill>
                      <a:srgbClr val="0A12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DBE7F5"/>
                          </a:solidFill>
                          <a:latin typeface="Segoe UI"/>
                        </a:defRPr>
                      </a:pPr>
                      <a:r>
                        <a:t>да</a:t>
                      </a:r>
                    </a:p>
                  </a:txBody>
                  <a:tcPr marL="73152" marR="54864" marT="27432" marB="27432" anchor="ctr">
                    <a:solidFill>
                      <a:srgbClr val="0A1223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DBE7F5"/>
                          </a:solidFill>
                          <a:latin typeface="Segoe UI"/>
                        </a:defRPr>
                      </a:pPr>
                      <a:r>
                        <a:t>VIDEO_ANALOG</a:t>
                      </a:r>
                    </a:p>
                  </a:txBody>
                  <a:tcPr marL="73152" marR="54864" marT="27432" marB="27432" anchor="ctr">
                    <a:solidFill>
                      <a:srgbClr val="0D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DBE7F5"/>
                          </a:solidFill>
                          <a:latin typeface="Segoe UI"/>
                        </a:defRPr>
                      </a:pPr>
                      <a:r>
                        <a:t>непрерывный канал 3–10 МГц</a:t>
                      </a:r>
                    </a:p>
                  </a:txBody>
                  <a:tcPr marL="73152" marR="54864" marT="27432" marB="27432" anchor="ctr">
                    <a:solidFill>
                      <a:srgbClr val="0D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DBE7F5"/>
                          </a:solidFill>
                          <a:latin typeface="Segoe UI"/>
                        </a:defRPr>
                      </a:pPr>
                      <a:r>
                        <a:t>да</a:t>
                      </a:r>
                    </a:p>
                  </a:txBody>
                  <a:tcPr marL="73152" marR="54864" marT="27432" marB="27432" anchor="ctr">
                    <a:solidFill>
                      <a:srgbClr val="0D1426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DBE7F5"/>
                          </a:solidFill>
                          <a:latin typeface="Segoe UI"/>
                        </a:defRPr>
                      </a:pPr>
                      <a:r>
                        <a:t>VIDEO_DIGITAL</a:t>
                      </a:r>
                    </a:p>
                  </a:txBody>
                  <a:tcPr marL="73152" marR="54864" marT="27432" marB="27432" anchor="ctr">
                    <a:solidFill>
                      <a:srgbClr val="0A12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DBE7F5"/>
                          </a:solidFill>
                          <a:latin typeface="Segoe UI"/>
                        </a:defRPr>
                      </a:pPr>
                      <a:r>
                        <a:t>широкий канал 8–30 МГц</a:t>
                      </a:r>
                    </a:p>
                  </a:txBody>
                  <a:tcPr marL="73152" marR="54864" marT="27432" marB="27432" anchor="ctr">
                    <a:solidFill>
                      <a:srgbClr val="0A12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DBE7F5"/>
                          </a:solidFill>
                          <a:latin typeface="Segoe UI"/>
                        </a:defRPr>
                      </a:pPr>
                      <a:r>
                        <a:t>да</a:t>
                      </a:r>
                    </a:p>
                  </a:txBody>
                  <a:tcPr marL="73152" marR="54864" marT="27432" marB="27432" anchor="ctr">
                    <a:solidFill>
                      <a:srgbClr val="0A1223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DBE7F5"/>
                          </a:solidFill>
                          <a:latin typeface="Segoe UI"/>
                        </a:defRPr>
                      </a:pPr>
                      <a:r>
                        <a:t>WIFI</a:t>
                      </a:r>
                    </a:p>
                  </a:txBody>
                  <a:tcPr marL="73152" marR="54864" marT="27432" marB="27432" anchor="ctr">
                    <a:solidFill>
                      <a:srgbClr val="0D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DBE7F5"/>
                          </a:solidFill>
                          <a:latin typeface="Segoe UI"/>
                        </a:defRPr>
                      </a:pPr>
                      <a:r>
                        <a:t>15–30 МГц, «плоский» спектр</a:t>
                      </a:r>
                    </a:p>
                  </a:txBody>
                  <a:tcPr marL="73152" marR="54864" marT="27432" marB="27432" anchor="ctr">
                    <a:solidFill>
                      <a:srgbClr val="0D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DBE7F5"/>
                          </a:solidFill>
                          <a:latin typeface="Segoe UI"/>
                        </a:defRPr>
                      </a:pPr>
                      <a:r>
                        <a:t>нет</a:t>
                      </a:r>
                    </a:p>
                  </a:txBody>
                  <a:tcPr marL="73152" marR="54864" marT="27432" marB="27432" anchor="ctr">
                    <a:solidFill>
                      <a:srgbClr val="0D1426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DBE7F5"/>
                          </a:solidFill>
                          <a:latin typeface="Segoe UI"/>
                        </a:defRPr>
                      </a:pPr>
                      <a:r>
                        <a:t>NARROW</a:t>
                      </a:r>
                    </a:p>
                  </a:txBody>
                  <a:tcPr marL="73152" marR="54864" marT="27432" marB="27432" anchor="ctr">
                    <a:solidFill>
                      <a:srgbClr val="0A12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DBE7F5"/>
                          </a:solidFill>
                          <a:latin typeface="Segoe UI"/>
                        </a:defRPr>
                      </a:pPr>
                      <a:r>
                        <a:t>узкий непрерывный носитель</a:t>
                      </a:r>
                    </a:p>
                  </a:txBody>
                  <a:tcPr marL="73152" marR="54864" marT="27432" marB="27432" anchor="ctr">
                    <a:solidFill>
                      <a:srgbClr val="0A12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DBE7F5"/>
                          </a:solidFill>
                          <a:latin typeface="Segoe UI"/>
                        </a:defRPr>
                      </a:pPr>
                      <a:r>
                        <a:t>нет</a:t>
                      </a:r>
                    </a:p>
                  </a:txBody>
                  <a:tcPr marL="73152" marR="54864" marT="27432" marB="27432" anchor="ctr">
                    <a:solidFill>
                      <a:srgbClr val="0A1223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DBE7F5"/>
                          </a:solidFill>
                          <a:latin typeface="Segoe UI"/>
                        </a:defRPr>
                      </a:pPr>
                      <a:r>
                        <a:t>UNKNOWN</a:t>
                      </a:r>
                    </a:p>
                  </a:txBody>
                  <a:tcPr marL="73152" marR="54864" marT="27432" marB="27432" anchor="ctr">
                    <a:solidFill>
                      <a:srgbClr val="0D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DBE7F5"/>
                          </a:solidFill>
                          <a:latin typeface="Segoe UI"/>
                        </a:defRPr>
                      </a:pPr>
                      <a:r>
                        <a:t>прочая активность</a:t>
                      </a:r>
                    </a:p>
                  </a:txBody>
                  <a:tcPr marL="73152" marR="54864" marT="27432" marB="27432" anchor="ctr">
                    <a:solidFill>
                      <a:srgbClr val="0D14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DBE7F5"/>
                          </a:solidFill>
                          <a:latin typeface="Segoe UI"/>
                        </a:defRPr>
                      </a:pPr>
                      <a:r>
                        <a:t>нет</a:t>
                      </a:r>
                    </a:p>
                  </a:txBody>
                  <a:tcPr marL="73152" marR="54864" marT="27432" marB="27432" anchor="ctr">
                    <a:solidFill>
                      <a:srgbClr val="0D1426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4663440"/>
            <a:ext cx="5440680" cy="1325880"/>
          </a:xfrm>
          <a:prstGeom prst="roundRect">
            <a:avLst>
              <a:gd name="adj" fmla="val 8000"/>
            </a:avLst>
          </a:prstGeom>
          <a:solidFill>
            <a:srgbClr val="0D1426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4773168"/>
            <a:ext cx="5148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4ADE80"/>
                </a:solidFill>
                <a:latin typeface="Segoe UI"/>
              </a:defRPr>
            </a:pPr>
            <a:r>
              <a:t>Строгий режим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5102352"/>
            <a:ext cx="5148072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150" b="0">
                <a:solidFill>
                  <a:srgbClr val="8FA6C0"/>
                </a:solidFill>
                <a:latin typeface="Segoe UI"/>
              </a:defRPr>
            </a:pPr>
            <a:r>
              <a:t>Кандидат — оранжевый. Тревога — красный, только после 3 попаданий и 70% уверенности. В таблице есть столбец «Хиты».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663440"/>
            <a:ext cx="5486400" cy="1325880"/>
          </a:xfrm>
          <a:prstGeom prst="roundRect">
            <a:avLst>
              <a:gd name="adj" fmla="val 8000"/>
            </a:avLst>
          </a:prstGeom>
          <a:solidFill>
            <a:srgbClr val="0D1426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8504" y="4773168"/>
            <a:ext cx="5193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F87171"/>
                </a:solidFill>
                <a:latin typeface="Segoe UI"/>
              </a:defRPr>
            </a:pPr>
            <a:r>
              <a:t>Честно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5102352"/>
            <a:ext cx="5193792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150" b="0">
                <a:solidFill>
                  <a:srgbClr val="8FA6C0"/>
                </a:solidFill>
                <a:latin typeface="Segoe UI"/>
              </a:defRPr>
            </a:pPr>
            <a:r>
              <a:t>2.4 ГГц полон Wi-Fi, Bluetooth, Zigbee и камер. Большинство одиночных тревог — ложные. Для проверки нужен известный передатчик.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Segoe UI"/>
              </a:defRPr>
            </a:pPr>
            <a:r>
              <a:t>PLUTO SCANNER  ·  КУРСОВОЙ ПРОЕКТ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FA6C0"/>
                </a:solidFill>
                <a:latin typeface="Segoe UI"/>
              </a:defRPr>
            </a:pPr>
            <a:r>
              <a:t>14</a:t>
            </a:r>
          </a:p>
        </p:txBody>
      </p:sp>
      <p:pic>
        <p:nvPicPr>
          <p:cNvPr id="6" name="Picture 5" descr="diagram_b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Segoe UI"/>
              </a:defRPr>
            </a:pPr>
            <a:r>
              <a:t>PLUTO SCANNER  ·  КУРСОВОЙ ПРОЕКТ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FA6C0"/>
                </a:solidFill>
                <a:latin typeface="Segoe UI"/>
              </a:defRPr>
            </a:pPr>
            <a:r>
              <a:t>15</a:t>
            </a:r>
          </a:p>
        </p:txBody>
      </p:sp>
      <p:pic>
        <p:nvPicPr>
          <p:cNvPr id="6" name="Picture 5" descr="diagram_two_sd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Segoe UI"/>
              </a:defRPr>
            </a:pPr>
            <a:r>
              <a:t>PLUTO SCANNER  ·  КУРСОВОЙ ПРОЕКТ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FA6C0"/>
                </a:solidFill>
                <a:latin typeface="Segoe UI"/>
              </a:defRPr>
            </a:pPr>
            <a:r>
              <a:t>16</a:t>
            </a:r>
          </a:p>
        </p:txBody>
      </p:sp>
      <p:pic>
        <p:nvPicPr>
          <p:cNvPr id="6" name="Picture 5" descr="diagra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Segoe UI"/>
              </a:defRPr>
            </a:pPr>
            <a:r>
              <a:t>PLUTO SCANNER  ·  КУРСОВОЙ ПРОЕКТ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FA6C0"/>
                </a:solidFill>
                <a:latin typeface="Segoe UI"/>
              </a:defRPr>
            </a:pPr>
            <a:r>
              <a:t>17</a:t>
            </a:r>
          </a:p>
        </p:txBody>
      </p:sp>
      <p:pic>
        <p:nvPicPr>
          <p:cNvPr id="6" name="Picture 5" descr="diagram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Segoe UI"/>
              </a:defRPr>
            </a:pPr>
            <a:r>
              <a:t>PLUTO SCANNER  ·  КУРСОВОЙ ПРОЕКТ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FA6C0"/>
                </a:solidFill>
                <a:latin typeface="Segoe UI"/>
              </a:defRPr>
            </a:pPr>
            <a:r>
              <a:t>18</a:t>
            </a:r>
          </a:p>
        </p:txBody>
      </p:sp>
      <p:pic>
        <p:nvPicPr>
          <p:cNvPr id="6" name="Picture 5" descr="diagram_lim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Segoe UI"/>
              </a:defRPr>
            </a:pPr>
            <a:r>
              <a:t>PLUTO SCANNER  ·  КУРСОВОЙ ПРОЕКТ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FA6C0"/>
                </a:solidFill>
                <a:latin typeface="Segoe UI"/>
              </a:defRPr>
            </a:pPr>
            <a:r>
              <a:t>19</a:t>
            </a:r>
          </a:p>
        </p:txBody>
      </p:sp>
      <p:pic>
        <p:nvPicPr>
          <p:cNvPr id="6" name="Picture 5" descr="diagram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547104"/>
            <a:ext cx="6858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Segoe UI"/>
              </a:defRPr>
            </a:pPr>
            <a:r>
              <a:t>PLUTO SCANNER  ·  КУРСОВОЙ ПРОЕКТ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510528"/>
            <a:ext cx="731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FA6C0"/>
                </a:solidFill>
                <a:latin typeface="Segoe UI"/>
              </a:defRPr>
            </a:pPr>
            <a:r>
              <a:t>20</a:t>
            </a:r>
          </a:p>
        </p:txBody>
      </p:sp>
      <p:pic>
        <p:nvPicPr>
          <p:cNvPr id="6" name="Picture 5" descr="hero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141732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22D3EE"/>
                </a:solidFill>
                <a:latin typeface="Segoe UI"/>
              </a:defRPr>
            </a:pPr>
            <a:r>
              <a:t>К ЧЕМУ ПРИШЛИ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943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3800" b="1">
                <a:solidFill>
                  <a:srgbClr val="DBE7F5"/>
                </a:solidFill>
                <a:latin typeface="Segoe UI"/>
              </a:defRPr>
            </a:pPr>
            <a:r>
              <a:t>Рабочий инструмент,</a:t>
            </a:r>
          </a:p>
          <a:p>
            <a:pPr algn="l">
              <a:spcAft>
                <a:spcPts val="0"/>
              </a:spcAft>
              <a:defRPr sz="3800" b="1">
                <a:solidFill>
                  <a:srgbClr val="DBE7F5"/>
                </a:solidFill>
                <a:latin typeface="Segoe UI"/>
              </a:defRPr>
            </a:pPr>
            <a:r>
              <a:t>а не демо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5669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DBE7F5"/>
                </a:solidFill>
                <a:latin typeface="Segoe UI"/>
              </a:defRPr>
            </a:pPr>
            <a:r>
              <a:t>Pluto Scanner закрывает путь: увидеть → измерить → сохранить → сравнить. Отдельный быстрый режим смотрит дроновые полосы и честно показывает кандидатов.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29200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F472B6"/>
                </a:solidFill>
                <a:latin typeface="Segoe UI"/>
              </a:defRPr>
            </a:pPr>
            <a:r>
              <a:t>Один SDR — глаза в эфир. Два SDR — параллельные полосы и больше шансов не пропустить событие.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Pluto Scanner — презентация</dc:title>
  <dc:subject>SDR, ADALM-PLUTO, сканер диапазона, дрон-монитор</dc:subject>
  <dc:creator>Pluto Scanner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